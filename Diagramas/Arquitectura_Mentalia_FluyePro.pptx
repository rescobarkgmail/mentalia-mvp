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6087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tecnológica editable — FluyePro / Mental‑IA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5943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MVP alineado al PFM: reduce fricción administrativa, mantiene control humano y repositorios del profesional.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084832" y="2148840"/>
            <a:ext cx="621792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084832" y="2834640"/>
            <a:ext cx="621792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4517136" y="2240280"/>
            <a:ext cx="384048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6675120" y="224028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6675120" y="3465576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6675120" y="434340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9052560" y="224028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9"/>
          <p:cNvSpPr/>
          <p:nvPr/>
        </p:nvSpPr>
        <p:spPr>
          <a:xfrm>
            <a:off x="9052560" y="4343400"/>
            <a:ext cx="512064" cy="0"/>
          </a:xfrm>
          <a:prstGeom prst="line">
            <a:avLst/>
          </a:prstGeom>
          <a:noFill/>
          <a:ln w="1524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5715000" y="2679192"/>
            <a:ext cx="0" cy="365760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5715000" y="3822192"/>
            <a:ext cx="0" cy="128016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4" name="Shape 12"/>
          <p:cNvSpPr/>
          <p:nvPr/>
        </p:nvSpPr>
        <p:spPr>
          <a:xfrm>
            <a:off x="5715000" y="4754880"/>
            <a:ext cx="0" cy="128016"/>
          </a:xfrm>
          <a:prstGeom prst="line">
            <a:avLst/>
          </a:prstGeom>
          <a:noFill/>
          <a:ln w="13970">
            <a:solidFill>
              <a:srgbClr val="A8B4B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96012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530352" y="1014984"/>
            <a:ext cx="111008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Capa transversal de seguridad, orquestación y gobernanza: autenticación, RLS, consentimiento, trazabilidad y control humano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1481328"/>
            <a:ext cx="160020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621792" y="1531620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8324A"/>
                </a:solidFill>
              </a:rPr>
              <a:t>Usuarios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78892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286207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8324A"/>
                </a:solidFill>
              </a:rPr>
              <a:t>Frontend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98348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505663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8324A"/>
                </a:solidFill>
              </a:rPr>
              <a:t>Backbone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26948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734263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8324A"/>
                </a:solidFill>
              </a:rPr>
              <a:t>IA / Funciones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9646920" y="1481328"/>
            <a:ext cx="1645920" cy="256032"/>
          </a:xfrm>
          <a:prstGeom prst="roundRect">
            <a:avLst>
              <a:gd name="adj" fmla="val 2142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9720072" y="1531620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8324A"/>
                </a:solidFill>
              </a:rPr>
              <a:t>Externos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1883664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576072" y="1938528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Profesional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clínico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2542032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576072" y="2596896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Paciente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reserva pública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401568"/>
            <a:ext cx="15087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30"/>
          <p:cNvSpPr/>
          <p:nvPr/>
        </p:nvSpPr>
        <p:spPr>
          <a:xfrm>
            <a:off x="576072" y="3456432"/>
            <a:ext cx="136245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Administrador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/ equipo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88920" y="1883664"/>
            <a:ext cx="16459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4" name="Text 32"/>
          <p:cNvSpPr/>
          <p:nvPr/>
        </p:nvSpPr>
        <p:spPr>
          <a:xfrm>
            <a:off x="2862072" y="1938528"/>
            <a:ext cx="149961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React + Vite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App web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88920" y="294436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4"/>
          <p:cNvSpPr/>
          <p:nvPr/>
        </p:nvSpPr>
        <p:spPr>
          <a:xfrm>
            <a:off x="2862072" y="2999232"/>
            <a:ext cx="149961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Vercel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DEV • QA • PROD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88920" y="404164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Text 36"/>
          <p:cNvSpPr/>
          <p:nvPr/>
        </p:nvSpPr>
        <p:spPr>
          <a:xfrm>
            <a:off x="2862072" y="4096512"/>
            <a:ext cx="1499616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8324A"/>
                </a:solidFill>
              </a:rPr>
              <a:t>Variables por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8324A"/>
                </a:solidFill>
              </a:rPr>
              <a:t>ambiente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83480" y="1883664"/>
            <a:ext cx="1645920" cy="713232"/>
          </a:xfrm>
          <a:prstGeom prst="roundRect">
            <a:avLst>
              <a:gd name="adj" fmla="val 10256"/>
            </a:avLst>
          </a:prstGeom>
          <a:solidFill>
            <a:srgbClr val="EEF9F3"/>
          </a:solidFill>
          <a:ln w="12700">
            <a:solidFill>
              <a:srgbClr val="80CFA6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0" name="Text 38"/>
          <p:cNvSpPr/>
          <p:nvPr/>
        </p:nvSpPr>
        <p:spPr>
          <a:xfrm>
            <a:off x="5056632" y="1938528"/>
            <a:ext cx="149961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Supabase Auth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Google / Email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83480" y="3127248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80CFA6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2" name="Text 40"/>
          <p:cNvSpPr/>
          <p:nvPr/>
        </p:nvSpPr>
        <p:spPr>
          <a:xfrm>
            <a:off x="5056632" y="3182112"/>
            <a:ext cx="1499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Postgres + RLS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metadata operativa</a:t>
            </a:r>
            <a:endParaRPr lang="en-US" sz="1020" dirty="0"/>
          </a:p>
        </p:txBody>
      </p:sp>
      <p:sp>
        <p:nvSpPr>
          <p:cNvPr id="43" name="Shape 41"/>
          <p:cNvSpPr/>
          <p:nvPr/>
        </p:nvSpPr>
        <p:spPr>
          <a:xfrm>
            <a:off x="4983480" y="4041648"/>
            <a:ext cx="16459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80CFA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4" name="Text 42"/>
          <p:cNvSpPr/>
          <p:nvPr/>
        </p:nvSpPr>
        <p:spPr>
          <a:xfrm>
            <a:off x="5056632" y="4096512"/>
            <a:ext cx="149961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Edge Functions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orquestador backend</a:t>
            </a:r>
            <a:endParaRPr lang="en-US" sz="1020" dirty="0"/>
          </a:p>
        </p:txBody>
      </p:sp>
      <p:sp>
        <p:nvSpPr>
          <p:cNvPr id="45" name="Shape 43"/>
          <p:cNvSpPr/>
          <p:nvPr/>
        </p:nvSpPr>
        <p:spPr>
          <a:xfrm>
            <a:off x="4983480" y="4956048"/>
            <a:ext cx="1645920" cy="530352"/>
          </a:xfrm>
          <a:prstGeom prst="roundRect">
            <a:avLst>
              <a:gd name="adj" fmla="val 13793"/>
            </a:avLst>
          </a:prstGeom>
          <a:solidFill>
            <a:srgbClr val="FAD7D7"/>
          </a:solidFill>
          <a:ln w="12700">
            <a:solidFill>
              <a:srgbClr val="E7A3A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6" name="Text 44"/>
          <p:cNvSpPr/>
          <p:nvPr/>
        </p:nvSpPr>
        <p:spPr>
          <a:xfrm>
            <a:off x="5056632" y="5010912"/>
            <a:ext cx="149961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8324A"/>
                </a:solidFill>
              </a:rPr>
              <a:t>Logs / auditoría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8324A"/>
                </a:solidFill>
              </a:rPr>
              <a:t>pendiente</a:t>
            </a:r>
            <a:endParaRPr lang="en-US" sz="960" dirty="0"/>
          </a:p>
        </p:txBody>
      </p:sp>
      <p:sp>
        <p:nvSpPr>
          <p:cNvPr id="47" name="Shape 45"/>
          <p:cNvSpPr/>
          <p:nvPr/>
        </p:nvSpPr>
        <p:spPr>
          <a:xfrm>
            <a:off x="7269480" y="1883664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3E8"/>
          </a:solidFill>
          <a:ln w="12700">
            <a:solidFill>
              <a:srgbClr val="F4B183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48" name="Text 46"/>
          <p:cNvSpPr/>
          <p:nvPr/>
        </p:nvSpPr>
        <p:spPr>
          <a:xfrm>
            <a:off x="7342632" y="1938528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Captura efímera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Audio / sesión</a:t>
            </a:r>
            <a:endParaRPr lang="en-US" sz="1020" dirty="0"/>
          </a:p>
        </p:txBody>
      </p:sp>
      <p:sp>
        <p:nvSpPr>
          <p:cNvPr id="49" name="Shape 47"/>
          <p:cNvSpPr/>
          <p:nvPr/>
        </p:nvSpPr>
        <p:spPr>
          <a:xfrm>
            <a:off x="7269480" y="3328416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4B18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0" name="Text 48"/>
          <p:cNvSpPr/>
          <p:nvPr/>
        </p:nvSpPr>
        <p:spPr>
          <a:xfrm>
            <a:off x="7342632" y="3383280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Whisper API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transcripción</a:t>
            </a:r>
            <a:endParaRPr lang="en-US" sz="1020" dirty="0"/>
          </a:p>
        </p:txBody>
      </p:sp>
      <p:sp>
        <p:nvSpPr>
          <p:cNvPr id="51" name="Shape 49"/>
          <p:cNvSpPr/>
          <p:nvPr/>
        </p:nvSpPr>
        <p:spPr>
          <a:xfrm>
            <a:off x="7269480" y="4041648"/>
            <a:ext cx="169164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F4B18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2" name="Text 50"/>
          <p:cNvSpPr/>
          <p:nvPr/>
        </p:nvSpPr>
        <p:spPr>
          <a:xfrm>
            <a:off x="7342632" y="4096512"/>
            <a:ext cx="1545336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GPT‑4o mini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borrador JSON</a:t>
            </a:r>
            <a:endParaRPr lang="en-US" sz="1020" dirty="0"/>
          </a:p>
        </p:txBody>
      </p:sp>
      <p:sp>
        <p:nvSpPr>
          <p:cNvPr id="53" name="Shape 51"/>
          <p:cNvSpPr/>
          <p:nvPr/>
        </p:nvSpPr>
        <p:spPr>
          <a:xfrm>
            <a:off x="7269480" y="4956048"/>
            <a:ext cx="1691640" cy="530352"/>
          </a:xfrm>
          <a:prstGeom prst="roundRect">
            <a:avLst>
              <a:gd name="adj" fmla="val 13793"/>
            </a:avLst>
          </a:prstGeom>
          <a:solidFill>
            <a:srgbClr val="F1EEFF"/>
          </a:solidFill>
          <a:ln w="12700">
            <a:solidFill>
              <a:srgbClr val="B7A6F6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4" name="Text 52"/>
          <p:cNvSpPr/>
          <p:nvPr/>
        </p:nvSpPr>
        <p:spPr>
          <a:xfrm>
            <a:off x="7342632" y="5010912"/>
            <a:ext cx="1545336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60" b="1" dirty="0">
                <a:solidFill>
                  <a:srgbClr val="18324A"/>
                </a:solidFill>
              </a:rPr>
              <a:t>Validación</a:t>
            </a:r>
            <a:endParaRPr lang="en-US" sz="960" dirty="0"/>
          </a:p>
          <a:p>
            <a:pPr marL="0" indent="0" algn="ctr">
              <a:buNone/>
            </a:pPr>
            <a:r>
              <a:rPr lang="en-US" sz="960" b="1" dirty="0">
                <a:solidFill>
                  <a:srgbClr val="18324A"/>
                </a:solidFill>
              </a:rPr>
              <a:t>profesional</a:t>
            </a:r>
            <a:endParaRPr lang="en-US" sz="960" dirty="0"/>
          </a:p>
        </p:txBody>
      </p:sp>
      <p:sp>
        <p:nvSpPr>
          <p:cNvPr id="55" name="Shape 53"/>
          <p:cNvSpPr/>
          <p:nvPr/>
        </p:nvSpPr>
        <p:spPr>
          <a:xfrm>
            <a:off x="9646920" y="1883664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B7A6F6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6" name="Text 54"/>
          <p:cNvSpPr/>
          <p:nvPr/>
        </p:nvSpPr>
        <p:spPr>
          <a:xfrm>
            <a:off x="9720072" y="1938528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18324A"/>
                </a:solidFill>
              </a:rPr>
              <a:t>Google Drive</a:t>
            </a:r>
            <a:endParaRPr lang="en-US" sz="970" dirty="0"/>
          </a:p>
          <a:p>
            <a:pPr marL="0" indent="0" algn="ctr">
              <a:buNone/>
            </a:pPr>
            <a:r>
              <a:rPr lang="en-US" sz="970" b="1" dirty="0">
                <a:solidFill>
                  <a:srgbClr val="18324A"/>
                </a:solidFill>
              </a:rPr>
              <a:t>repositorio profesional</a:t>
            </a:r>
            <a:endParaRPr lang="en-US" sz="970" dirty="0"/>
          </a:p>
        </p:txBody>
      </p:sp>
      <p:sp>
        <p:nvSpPr>
          <p:cNvPr id="57" name="Shape 55"/>
          <p:cNvSpPr/>
          <p:nvPr/>
        </p:nvSpPr>
        <p:spPr>
          <a:xfrm>
            <a:off x="9646920" y="269748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8" name="Text 56"/>
          <p:cNvSpPr/>
          <p:nvPr/>
        </p:nvSpPr>
        <p:spPr>
          <a:xfrm>
            <a:off x="9720072" y="275234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8324A"/>
                </a:solidFill>
              </a:rPr>
              <a:t>Google / Microsoft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8324A"/>
                </a:solidFill>
              </a:rPr>
              <a:t>OAuth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646920" y="352044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0" name="Text 58"/>
          <p:cNvSpPr/>
          <p:nvPr/>
        </p:nvSpPr>
        <p:spPr>
          <a:xfrm>
            <a:off x="9720072" y="357530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8324A"/>
                </a:solidFill>
              </a:rPr>
              <a:t>Email transaccional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8324A"/>
                </a:solidFill>
              </a:rPr>
              <a:t>Resend / Postmark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46920" y="4343400"/>
            <a:ext cx="1737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2" name="Text 60"/>
          <p:cNvSpPr/>
          <p:nvPr/>
        </p:nvSpPr>
        <p:spPr>
          <a:xfrm>
            <a:off x="9720072" y="4398264"/>
            <a:ext cx="1591056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18324A"/>
                </a:solidFill>
              </a:rPr>
              <a:t>Calendario / WhatsApp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5989320"/>
            <a:ext cx="320040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4" name="Text 62"/>
          <p:cNvSpPr/>
          <p:nvPr/>
        </p:nvSpPr>
        <p:spPr>
          <a:xfrm>
            <a:off x="576072" y="6044184"/>
            <a:ext cx="305409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Procesamiento efímero: audio no es repositorio permanente</a:t>
            </a:r>
            <a:endParaRPr lang="en-US" sz="940" dirty="0"/>
          </a:p>
        </p:txBody>
      </p:sp>
      <p:sp>
        <p:nvSpPr>
          <p:cNvPr id="65" name="Shape 63"/>
          <p:cNvSpPr/>
          <p:nvPr/>
        </p:nvSpPr>
        <p:spPr>
          <a:xfrm>
            <a:off x="3977640" y="5989320"/>
            <a:ext cx="283464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6" name="Text 64"/>
          <p:cNvSpPr/>
          <p:nvPr/>
        </p:nvSpPr>
        <p:spPr>
          <a:xfrm>
            <a:off x="4050792" y="6044184"/>
            <a:ext cx="26883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Control humano: IA solo genera borradores editables</a:t>
            </a:r>
            <a:endParaRPr lang="en-US" sz="940" dirty="0"/>
          </a:p>
        </p:txBody>
      </p:sp>
      <p:sp>
        <p:nvSpPr>
          <p:cNvPr id="67" name="Shape 65"/>
          <p:cNvSpPr/>
          <p:nvPr/>
        </p:nvSpPr>
        <p:spPr>
          <a:xfrm>
            <a:off x="7086600" y="5989320"/>
            <a:ext cx="2834640" cy="393192"/>
          </a:xfrm>
          <a:prstGeom prst="roundRect">
            <a:avLst>
              <a:gd name="adj" fmla="val 18605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8" name="Text 66"/>
          <p:cNvSpPr/>
          <p:nvPr/>
        </p:nvSpPr>
        <p:spPr>
          <a:xfrm>
            <a:off x="7159752" y="6044184"/>
            <a:ext cx="268833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Trazabilidad: logs, validación y estados del flujo</a:t>
            </a:r>
            <a:endParaRPr lang="en-US" sz="940" dirty="0"/>
          </a:p>
        </p:txBody>
      </p:sp>
      <p:sp>
        <p:nvSpPr>
          <p:cNvPr id="69" name="Shape 67"/>
          <p:cNvSpPr/>
          <p:nvPr/>
        </p:nvSpPr>
        <p:spPr>
          <a:xfrm>
            <a:off x="10195560" y="5989320"/>
            <a:ext cx="1097280" cy="393192"/>
          </a:xfrm>
          <a:prstGeom prst="roundRect">
            <a:avLst>
              <a:gd name="adj" fmla="val 18605"/>
            </a:avLst>
          </a:prstGeom>
          <a:solidFill>
            <a:srgbClr val="18AFC1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0" name="Text 68"/>
          <p:cNvSpPr/>
          <p:nvPr/>
        </p:nvSpPr>
        <p:spPr>
          <a:xfrm>
            <a:off x="10268712" y="6044184"/>
            <a:ext cx="950976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MVP → SaaS</a:t>
            </a:r>
            <a:endParaRPr lang="en-US" sz="9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32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Ambientes y ruta de escalamiento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5943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5568"/>
                </a:solidFill>
              </a:rPr>
              <a:t>Separación operativa para DEV / QA / PROD y evolución desde piloto hasta SaaS productivo.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372360" y="308660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876800" y="3086608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6" name="Shape 4"/>
          <p:cNvSpPr/>
          <p:nvPr/>
        </p:nvSpPr>
        <p:spPr>
          <a:xfrm>
            <a:off x="6854444" y="3094736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5"/>
          <p:cNvSpPr/>
          <p:nvPr/>
        </p:nvSpPr>
        <p:spPr>
          <a:xfrm>
            <a:off x="9192768" y="3094736"/>
            <a:ext cx="1005840" cy="0"/>
          </a:xfrm>
          <a:prstGeom prst="line">
            <a:avLst/>
          </a:prstGeom>
          <a:noFill/>
          <a:ln w="17780">
            <a:solidFill>
              <a:srgbClr val="18AFC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50292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E6F8FA"/>
          </a:solidFill>
          <a:ln w="12700">
            <a:solidFill>
              <a:srgbClr val="18AFC1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57607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DEV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fluyepro-dev.vercel.app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develop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VITE_APP_ENV=DEV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EEF9F3"/>
          </a:solidFill>
          <a:ln w="12700">
            <a:solidFill>
              <a:srgbClr val="80CFA6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0799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QA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fluyepro-qa.vercel.app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qa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VITE_APP_ENV=QA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66760" y="1115568"/>
            <a:ext cx="3337560" cy="1353312"/>
          </a:xfrm>
          <a:prstGeom prst="roundRect">
            <a:avLst>
              <a:gd name="adj" fmla="val 5405"/>
            </a:avLst>
          </a:prstGeom>
          <a:solidFill>
            <a:srgbClr val="F1EEFF"/>
          </a:solidFill>
          <a:ln w="12700">
            <a:solidFill>
              <a:srgbClr val="B7A6F6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8439912" y="1170432"/>
            <a:ext cx="3191256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PROD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fluyepro-prod.vercel.app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branch: main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8324A"/>
                </a:solidFill>
              </a:rPr>
              <a:t>VITE_APP_ENV=PROD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6868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94183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2 usuarios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Demo / validación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9692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337007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100 usuarios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8324A"/>
                </a:solidFill>
              </a:rPr>
              <a:t>Piloto controlado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2836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600151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1.000 usuarios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Pre‑producción SaaS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8031480" y="276148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8104632" y="2816352"/>
            <a:ext cx="168249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10.000 usuarios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Escala gobernada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10337800" y="2761488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18AFC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10410952" y="2816352"/>
            <a:ext cx="1344168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Enterprise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b="1" dirty="0">
                <a:solidFill>
                  <a:srgbClr val="18324A"/>
                </a:solidFill>
              </a:rPr>
              <a:t>Hardening avanzado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502920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Text 23"/>
          <p:cNvSpPr/>
          <p:nvPr/>
        </p:nvSpPr>
        <p:spPr>
          <a:xfrm>
            <a:off x="576072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Base actual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React + Vercel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Supabase Auth/DB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Google Drive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Login Gmail</a:t>
            </a:r>
            <a:endParaRPr lang="en-US" sz="1020" dirty="0"/>
          </a:p>
        </p:txBody>
      </p:sp>
      <p:sp>
        <p:nvSpPr>
          <p:cNvPr id="26" name="Shape 24"/>
          <p:cNvSpPr/>
          <p:nvPr/>
        </p:nvSpPr>
        <p:spPr>
          <a:xfrm>
            <a:off x="3273552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3346704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Antes de piloto real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Supabase DEV/QA/PROD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RLS revisado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Backups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Logs mínimos</a:t>
            </a:r>
            <a:endParaRPr lang="en-US" sz="1020" dirty="0"/>
          </a:p>
        </p:txBody>
      </p:sp>
      <p:sp>
        <p:nvSpPr>
          <p:cNvPr id="28" name="Shape 26"/>
          <p:cNvSpPr/>
          <p:nvPr/>
        </p:nvSpPr>
        <p:spPr>
          <a:xfrm>
            <a:off x="6044184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117336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SaaS productivo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Índices SQL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Monitoring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Resend/Postmark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Auditoría formal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8814816" y="3822192"/>
            <a:ext cx="25146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A8B4BF"/>
            </a:solidFill>
            <a:prstDash val="solid"/>
          </a:ln>
          <a:effectLst>
            <a:outerShdw blurRad="12700" dist="50800" dir="2700000" algn="bl" rotWithShape="0">
              <a:srgbClr val="D5DEE7">
                <a:alpha val="24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31" name="Text 29"/>
          <p:cNvSpPr/>
          <p:nvPr/>
        </p:nvSpPr>
        <p:spPr>
          <a:xfrm>
            <a:off x="8887968" y="3877056"/>
            <a:ext cx="2368296" cy="11521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Escala 10k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Colas / workers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Rate limits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Storage gobernado</a:t>
            </a:r>
            <a:endParaRPr lang="en-US" sz="1020" dirty="0"/>
          </a:p>
          <a:p>
            <a:pPr marL="0" indent="0" algn="l">
              <a:buNone/>
            </a:pPr>
            <a:r>
              <a:rPr lang="en-US" sz="1020" dirty="0">
                <a:solidFill>
                  <a:srgbClr val="18324A"/>
                </a:solidFill>
              </a:rPr>
              <a:t>• Cost control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502920" y="5715000"/>
            <a:ext cx="11201400" cy="438912"/>
          </a:xfrm>
          <a:prstGeom prst="roundRect">
            <a:avLst>
              <a:gd name="adj" fmla="val 16667"/>
            </a:avLst>
          </a:prstGeom>
          <a:solidFill>
            <a:srgbClr val="18324A"/>
          </a:solidFill>
          <a:ln w="12700">
            <a:solidFill>
              <a:srgbClr val="1832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3" name="Text 31"/>
          <p:cNvSpPr/>
          <p:nvPr/>
        </p:nvSpPr>
        <p:spPr>
          <a:xfrm>
            <a:off x="576072" y="5769864"/>
            <a:ext cx="11055096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FFFFFF"/>
                </a:solidFill>
              </a:rPr>
              <a:t>Decisión arquitectónica: no migrar a  Hosting </a:t>
            </a:r>
            <a:r>
              <a:rPr lang="en-US" sz="1020" b="1" dirty="0" err="1">
                <a:solidFill>
                  <a:srgbClr val="FFFFFF"/>
                </a:solidFill>
              </a:rPr>
              <a:t>aún</a:t>
            </a:r>
            <a:r>
              <a:rPr lang="en-US" sz="1020" b="1" dirty="0">
                <a:solidFill>
                  <a:srgbClr val="FFFFFF"/>
                </a:solidFill>
              </a:rPr>
              <a:t>. Vercel + Supabase es adecuado para MVP y crecimiento progresivo; se endurece por etapas antes de producción real.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B10BF00-94EF-7AEC-6B24-ECDC9FFC2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331" y="620829"/>
            <a:ext cx="6329313" cy="561634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9694955-D1F5-54A4-C484-F6717AEA1226}"/>
              </a:ext>
            </a:extLst>
          </p:cNvPr>
          <p:cNvSpPr txBox="1"/>
          <p:nvPr/>
        </p:nvSpPr>
        <p:spPr>
          <a:xfrm>
            <a:off x="1183907" y="731520"/>
            <a:ext cx="2347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Mapa Actual </a:t>
            </a:r>
            <a:r>
              <a:rPr lang="es-CL" dirty="0" err="1"/>
              <a:t>Mentalia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621722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B8F0E5E-2B99-048D-BDE3-79C7D4F88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59" y="585887"/>
            <a:ext cx="7968515" cy="519408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03AFDCDA-C6E0-1C81-A948-7D05D596963B}"/>
              </a:ext>
            </a:extLst>
          </p:cNvPr>
          <p:cNvSpPr txBox="1"/>
          <p:nvPr/>
        </p:nvSpPr>
        <p:spPr>
          <a:xfrm>
            <a:off x="798897" y="664143"/>
            <a:ext cx="237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Plan Mejoras </a:t>
            </a:r>
            <a:r>
              <a:rPr lang="es-CL" dirty="0" err="1"/>
              <a:t>Mentalia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52326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7EDA5C3-6BEE-A2D3-74A1-83B320A5D4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439884"/>
              </p:ext>
            </p:extLst>
          </p:nvPr>
        </p:nvGraphicFramePr>
        <p:xfrm>
          <a:off x="2032000" y="719666"/>
          <a:ext cx="8128000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00116415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58685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L" dirty="0"/>
                        <a:t>Arquitectura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/>
                        <a:t>Arquitectura objetivo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3207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Usuario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│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▼</a:t>
                      </a:r>
                    </a:p>
                    <a:p>
                      <a:pPr rtl="0"/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+ Vite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Vercel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│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├──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Supabase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Auth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├──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Supabase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Data API + RLS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├──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Supabase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Edge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Function</a:t>
                      </a:r>
                      <a:endParaRPr lang="es-C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│     └──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OpenAI</a:t>
                      </a:r>
                      <a:endParaRPr lang="es-C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├── Google OAuth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├── Google Calendar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└── Google Drive</a:t>
                      </a:r>
                    </a:p>
                    <a:p>
                      <a:endParaRPr lang="es-C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SPA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│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▼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 / Edge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Functions</a:t>
                      </a:r>
                      <a:endParaRPr lang="es-C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│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├── reglas de negocio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├── autorización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├── auditoría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├── integración Google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└── integración </a:t>
                      </a:r>
                      <a:r>
                        <a:rPr lang="es-CL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OpenAI</a:t>
                      </a:r>
                      <a:endParaRPr lang="es-CL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│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  ▼</a:t>
                      </a:r>
                    </a:p>
                    <a:p>
                      <a:pPr rtl="0"/>
                      <a:r>
                        <a:rPr lang="es-CL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PostgreSQL + RLS</a:t>
                      </a:r>
                    </a:p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6206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2887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B72C06E7-573B-B02D-EE99-61E597D9A285}"/>
              </a:ext>
            </a:extLst>
          </p:cNvPr>
          <p:cNvSpPr txBox="1"/>
          <p:nvPr/>
        </p:nvSpPr>
        <p:spPr>
          <a:xfrm>
            <a:off x="3048802" y="1861746"/>
            <a:ext cx="609760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s-CL" dirty="0">
                <a:latin typeface="Courier New" panose="02070309020205020404" pitchFamily="49" charset="0"/>
              </a:rPr>
              <a:t>Arquitectura general:</a:t>
            </a:r>
          </a:p>
          <a:p>
            <a:pPr rtl="0">
              <a:buNone/>
            </a:pPr>
            <a:r>
              <a:rPr lang="es-CL" b="1" dirty="0">
                <a:latin typeface="Courier New" panose="02070309020205020404" pitchFamily="49" charset="0"/>
              </a:rPr>
              <a:t>Tres capas</a:t>
            </a:r>
          </a:p>
          <a:p>
            <a:pPr rtl="0">
              <a:buNone/>
            </a:pPr>
            <a:endParaRPr lang="es-CL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s-CL" dirty="0">
                <a:latin typeface="Courier New" panose="02070309020205020404" pitchFamily="49" charset="0"/>
              </a:rPr>
              <a:t>Organización del negocio:</a:t>
            </a:r>
          </a:p>
          <a:p>
            <a:pPr rtl="0">
              <a:buNone/>
            </a:pPr>
            <a:r>
              <a:rPr lang="es-CL" dirty="0">
                <a:latin typeface="Courier New" panose="02070309020205020404" pitchFamily="49" charset="0"/>
              </a:rPr>
              <a:t>Modular y orientada a servicios</a:t>
            </a:r>
          </a:p>
          <a:p>
            <a:pPr rtl="0">
              <a:buNone/>
            </a:pPr>
            <a:endParaRPr lang="es-CL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s-CL" dirty="0">
                <a:latin typeface="Courier New" panose="02070309020205020404" pitchFamily="49" charset="0"/>
              </a:rPr>
              <a:t>Patrón interno del </a:t>
            </a:r>
            <a:r>
              <a:rPr lang="es-CL" dirty="0" err="1">
                <a:latin typeface="Courier New" panose="02070309020205020404" pitchFamily="49" charset="0"/>
              </a:rPr>
              <a:t>backend</a:t>
            </a:r>
            <a:r>
              <a:rPr lang="es-CL" dirty="0">
                <a:latin typeface="Courier New" panose="02070309020205020404" pitchFamily="49" charset="0"/>
              </a:rPr>
              <a:t>:</a:t>
            </a:r>
          </a:p>
          <a:p>
            <a:pPr rtl="0">
              <a:buNone/>
            </a:pPr>
            <a:r>
              <a:rPr lang="es-CL" dirty="0">
                <a:latin typeface="Courier New" panose="02070309020205020404" pitchFamily="49" charset="0"/>
              </a:rPr>
              <a:t>MVC, </a:t>
            </a:r>
            <a:r>
              <a:rPr lang="es-CL" dirty="0" err="1">
                <a:latin typeface="Courier New" panose="02070309020205020404" pitchFamily="49" charset="0"/>
              </a:rPr>
              <a:t>Clean</a:t>
            </a:r>
            <a:r>
              <a:rPr lang="es-CL" dirty="0">
                <a:latin typeface="Courier New" panose="02070309020205020404" pitchFamily="49" charset="0"/>
              </a:rPr>
              <a:t> </a:t>
            </a:r>
            <a:r>
              <a:rPr lang="es-CL" dirty="0" err="1">
                <a:latin typeface="Courier New" panose="02070309020205020404" pitchFamily="49" charset="0"/>
              </a:rPr>
              <a:t>Architecture</a:t>
            </a:r>
            <a:r>
              <a:rPr lang="es-CL" dirty="0">
                <a:latin typeface="Courier New" panose="02070309020205020404" pitchFamily="49" charset="0"/>
              </a:rPr>
              <a:t> o Hexagonal</a:t>
            </a:r>
          </a:p>
          <a:p>
            <a:pPr rtl="0">
              <a:buNone/>
            </a:pPr>
            <a:endParaRPr lang="es-CL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s-CL" dirty="0" err="1">
                <a:latin typeface="Courier New" panose="02070309020205020404" pitchFamily="49" charset="0"/>
              </a:rPr>
              <a:t>Frontend</a:t>
            </a:r>
            <a:r>
              <a:rPr lang="es-CL" dirty="0">
                <a:latin typeface="Courier New" panose="02070309020205020404" pitchFamily="49" charset="0"/>
              </a:rPr>
              <a:t>:</a:t>
            </a:r>
          </a:p>
          <a:p>
            <a:pPr rtl="0">
              <a:buNone/>
            </a:pPr>
            <a:r>
              <a:rPr lang="es-CL" dirty="0" err="1">
                <a:latin typeface="Courier New" panose="02070309020205020404" pitchFamily="49" charset="0"/>
              </a:rPr>
              <a:t>React</a:t>
            </a:r>
            <a:r>
              <a:rPr lang="es-CL" dirty="0">
                <a:latin typeface="Courier New" panose="02070309020205020404" pitchFamily="49" charset="0"/>
              </a:rPr>
              <a:t> basado en componentes</a:t>
            </a:r>
          </a:p>
        </p:txBody>
      </p:sp>
    </p:spTree>
    <p:extLst>
      <p:ext uri="{BB962C8B-B14F-4D97-AF65-F5344CB8AC3E}">
        <p14:creationId xmlns:p14="http://schemas.microsoft.com/office/powerpoint/2010/main" val="2601863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FB8E764-CAB2-9594-1BAA-2B25D60A6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862" y="2004813"/>
            <a:ext cx="8602275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3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2779</TotalTime>
  <Words>463</Words>
  <Application>Microsoft Office PowerPoint</Application>
  <PresentationFormat>Panorámica</PresentationFormat>
  <Paragraphs>135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 Display</vt:lpstr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FluyePro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Arquitectura FluyePro / Mental-IA</dc:title>
  <dc:subject>Diagrama editable arquitectura FluyePro / Mental-IA</dc:subject>
  <dc:creator>OpenAI</dc:creator>
  <cp:lastModifiedBy>Rodolfo Escobar Keilendt</cp:lastModifiedBy>
  <cp:revision>6</cp:revision>
  <dcterms:created xsi:type="dcterms:W3CDTF">2026-06-03T04:09:57Z</dcterms:created>
  <dcterms:modified xsi:type="dcterms:W3CDTF">2026-08-19T14:34:55Z</dcterms:modified>
</cp:coreProperties>
</file>