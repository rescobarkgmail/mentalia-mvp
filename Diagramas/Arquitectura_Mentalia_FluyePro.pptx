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6087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Arquitectura tecnológica editable — FluyePro / Mental‑IA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59436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</a:rPr>
              <a:t>MVP alineado al PFM: reduce fricción administrativa, mantiene control humano y repositorios del profesional.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2084832" y="2148840"/>
            <a:ext cx="621792" cy="0"/>
          </a:xfrm>
          <a:prstGeom prst="line">
            <a:avLst/>
          </a:prstGeom>
          <a:noFill/>
          <a:ln w="15240">
            <a:solidFill>
              <a:srgbClr val="A8B4B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2084832" y="2834640"/>
            <a:ext cx="621792" cy="0"/>
          </a:xfrm>
          <a:prstGeom prst="line">
            <a:avLst/>
          </a:prstGeom>
          <a:noFill/>
          <a:ln w="15240">
            <a:solidFill>
              <a:srgbClr val="A8B4B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4517136" y="2240280"/>
            <a:ext cx="384048" cy="0"/>
          </a:xfrm>
          <a:prstGeom prst="line">
            <a:avLst/>
          </a:prstGeom>
          <a:noFill/>
          <a:ln w="15240">
            <a:solidFill>
              <a:srgbClr val="A8B4B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6675120" y="2240280"/>
            <a:ext cx="512064" cy="0"/>
          </a:xfrm>
          <a:prstGeom prst="line">
            <a:avLst/>
          </a:prstGeom>
          <a:noFill/>
          <a:ln w="15240">
            <a:solidFill>
              <a:srgbClr val="A8B4B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8" name="Shape 6"/>
          <p:cNvSpPr/>
          <p:nvPr/>
        </p:nvSpPr>
        <p:spPr>
          <a:xfrm>
            <a:off x="6675120" y="3465576"/>
            <a:ext cx="512064" cy="0"/>
          </a:xfrm>
          <a:prstGeom prst="line">
            <a:avLst/>
          </a:prstGeom>
          <a:noFill/>
          <a:ln w="15240">
            <a:solidFill>
              <a:srgbClr val="A8B4B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6675120" y="4343400"/>
            <a:ext cx="512064" cy="0"/>
          </a:xfrm>
          <a:prstGeom prst="line">
            <a:avLst/>
          </a:prstGeom>
          <a:noFill/>
          <a:ln w="15240">
            <a:solidFill>
              <a:srgbClr val="A8B4B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9052560" y="2240280"/>
            <a:ext cx="512064" cy="0"/>
          </a:xfrm>
          <a:prstGeom prst="line">
            <a:avLst/>
          </a:prstGeom>
          <a:noFill/>
          <a:ln w="15240">
            <a:solidFill>
              <a:srgbClr val="A8B4B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>
            <a:off x="9052560" y="4343400"/>
            <a:ext cx="512064" cy="0"/>
          </a:xfrm>
          <a:prstGeom prst="line">
            <a:avLst/>
          </a:prstGeom>
          <a:noFill/>
          <a:ln w="15240">
            <a:solidFill>
              <a:srgbClr val="A8B4B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>
            <a:off x="5715000" y="2679192"/>
            <a:ext cx="0" cy="365760"/>
          </a:xfrm>
          <a:prstGeom prst="line">
            <a:avLst/>
          </a:prstGeom>
          <a:noFill/>
          <a:ln w="13970">
            <a:solidFill>
              <a:srgbClr val="A8B4B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5715000" y="3822192"/>
            <a:ext cx="0" cy="128016"/>
          </a:xfrm>
          <a:prstGeom prst="line">
            <a:avLst/>
          </a:prstGeom>
          <a:noFill/>
          <a:ln w="13970">
            <a:solidFill>
              <a:srgbClr val="A8B4B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14" name="Shape 12"/>
          <p:cNvSpPr/>
          <p:nvPr/>
        </p:nvSpPr>
        <p:spPr>
          <a:xfrm>
            <a:off x="5715000" y="4754880"/>
            <a:ext cx="0" cy="128016"/>
          </a:xfrm>
          <a:prstGeom prst="line">
            <a:avLst/>
          </a:prstGeom>
          <a:noFill/>
          <a:ln w="13970">
            <a:solidFill>
              <a:srgbClr val="A8B4B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15" name="Shape 13"/>
          <p:cNvSpPr/>
          <p:nvPr/>
        </p:nvSpPr>
        <p:spPr>
          <a:xfrm>
            <a:off x="457200" y="960120"/>
            <a:ext cx="11247120" cy="502920"/>
          </a:xfrm>
          <a:prstGeom prst="roundRect">
            <a:avLst>
              <a:gd name="adj" fmla="val 14545"/>
            </a:avLst>
          </a:prstGeom>
          <a:solidFill>
            <a:srgbClr val="E6F8FA"/>
          </a:solidFill>
          <a:ln w="12700">
            <a:solidFill>
              <a:srgbClr val="18AFC1"/>
            </a:solidFill>
            <a:prstDash val="solid"/>
          </a:ln>
          <a:effectLst>
            <a:outerShdw blurRad="12700" dist="50800" dir="2700000" algn="bl" rotWithShape="0">
              <a:srgbClr val="D5DEE7">
                <a:alpha val="24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530352" y="1014984"/>
            <a:ext cx="1110081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8324A"/>
                </a:solidFill>
              </a:rPr>
              <a:t>Capa transversal de seguridad, orquestación y gobernanza: autenticación, RLS, consentimiento, trazabilidad y control humano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1481328"/>
            <a:ext cx="1600200" cy="256032"/>
          </a:xfrm>
          <a:prstGeom prst="roundRect">
            <a:avLst>
              <a:gd name="adj" fmla="val 2142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621792" y="1531620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8324A"/>
                </a:solidFill>
              </a:rPr>
              <a:t>Usuarios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2788920" y="1481328"/>
            <a:ext cx="1645920" cy="256032"/>
          </a:xfrm>
          <a:prstGeom prst="roundRect">
            <a:avLst>
              <a:gd name="adj" fmla="val 2142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2862072" y="1531620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8324A"/>
                </a:solidFill>
              </a:rPr>
              <a:t>Frontend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4983480" y="1481328"/>
            <a:ext cx="1645920" cy="256032"/>
          </a:xfrm>
          <a:prstGeom prst="roundRect">
            <a:avLst>
              <a:gd name="adj" fmla="val 2142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/>
          <p:nvPr/>
        </p:nvSpPr>
        <p:spPr>
          <a:xfrm>
            <a:off x="5056632" y="1531620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8324A"/>
                </a:solidFill>
              </a:rPr>
              <a:t>Backbone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7269480" y="1481328"/>
            <a:ext cx="1645920" cy="256032"/>
          </a:xfrm>
          <a:prstGeom prst="roundRect">
            <a:avLst>
              <a:gd name="adj" fmla="val 2142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/>
          <p:nvPr/>
        </p:nvSpPr>
        <p:spPr>
          <a:xfrm>
            <a:off x="7342632" y="1531620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8324A"/>
                </a:solidFill>
              </a:rPr>
              <a:t>IA / Funciones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9646920" y="1481328"/>
            <a:ext cx="1645920" cy="256032"/>
          </a:xfrm>
          <a:prstGeom prst="roundRect">
            <a:avLst>
              <a:gd name="adj" fmla="val 2142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/>
          <p:nvPr/>
        </p:nvSpPr>
        <p:spPr>
          <a:xfrm>
            <a:off x="9720072" y="1531620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8324A"/>
                </a:solidFill>
              </a:rPr>
              <a:t>Externos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502920" y="1883664"/>
            <a:ext cx="15087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18AFC1"/>
            </a:solidFill>
            <a:prstDash val="solid"/>
          </a:ln>
          <a:effectLst>
            <a:outerShdw blurRad="12700" dist="50800" dir="2700000" algn="bl" rotWithShape="0">
              <a:srgbClr val="D5DEE7">
                <a:alpha val="24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8" name="Text 26"/>
          <p:cNvSpPr/>
          <p:nvPr/>
        </p:nvSpPr>
        <p:spPr>
          <a:xfrm>
            <a:off x="576072" y="1938528"/>
            <a:ext cx="136245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8324A"/>
                </a:solidFill>
              </a:rPr>
              <a:t>Profesional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8324A"/>
                </a:solidFill>
              </a:rPr>
              <a:t>clínico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2920" y="2542032"/>
            <a:ext cx="15087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18AFC1"/>
            </a:solidFill>
            <a:prstDash val="solid"/>
          </a:ln>
          <a:effectLst>
            <a:outerShdw blurRad="12700" dist="50800" dir="2700000" algn="bl" rotWithShape="0">
              <a:srgbClr val="D5DEE7">
                <a:alpha val="24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0" name="Text 28"/>
          <p:cNvSpPr/>
          <p:nvPr/>
        </p:nvSpPr>
        <p:spPr>
          <a:xfrm>
            <a:off x="576072" y="2596896"/>
            <a:ext cx="136245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8324A"/>
                </a:solidFill>
              </a:rPr>
              <a:t>Paciente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8324A"/>
                </a:solidFill>
              </a:rPr>
              <a:t>reserva pública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02920" y="3401568"/>
            <a:ext cx="15087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A8B4B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Text 30"/>
          <p:cNvSpPr/>
          <p:nvPr/>
        </p:nvSpPr>
        <p:spPr>
          <a:xfrm>
            <a:off x="576072" y="3456432"/>
            <a:ext cx="136245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8324A"/>
                </a:solidFill>
              </a:rPr>
              <a:t>Administrador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8324A"/>
                </a:solidFill>
              </a:rPr>
              <a:t>/ equipo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788920" y="1883664"/>
            <a:ext cx="16459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18AFC1"/>
            </a:solidFill>
            <a:prstDash val="solid"/>
          </a:ln>
          <a:effectLst>
            <a:outerShdw blurRad="12700" dist="50800" dir="2700000" algn="bl" rotWithShape="0">
              <a:srgbClr val="D5DEE7">
                <a:alpha val="24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4" name="Text 32"/>
          <p:cNvSpPr/>
          <p:nvPr/>
        </p:nvSpPr>
        <p:spPr>
          <a:xfrm>
            <a:off x="2862072" y="1938528"/>
            <a:ext cx="1499616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8324A"/>
                </a:solidFill>
              </a:rPr>
              <a:t>React + Vite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8324A"/>
                </a:solidFill>
              </a:rPr>
              <a:t>App web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788920" y="2944368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E6F8FA"/>
          </a:solidFill>
          <a:ln w="12700">
            <a:solidFill>
              <a:srgbClr val="18AFC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6" name="Text 34"/>
          <p:cNvSpPr/>
          <p:nvPr/>
        </p:nvSpPr>
        <p:spPr>
          <a:xfrm>
            <a:off x="2862072" y="2999232"/>
            <a:ext cx="149961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8324A"/>
                </a:solidFill>
              </a:rPr>
              <a:t>Vercel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8324A"/>
                </a:solidFill>
              </a:rPr>
              <a:t>DEV • QA • PROD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788920" y="4041648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A8B4B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8" name="Text 36"/>
          <p:cNvSpPr/>
          <p:nvPr/>
        </p:nvSpPr>
        <p:spPr>
          <a:xfrm>
            <a:off x="2862072" y="4096512"/>
            <a:ext cx="149961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8324A"/>
                </a:solidFill>
              </a:rPr>
              <a:t>Variables por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8324A"/>
                </a:solidFill>
              </a:rPr>
              <a:t>ambiente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983480" y="1883664"/>
            <a:ext cx="1645920" cy="713232"/>
          </a:xfrm>
          <a:prstGeom prst="roundRect">
            <a:avLst>
              <a:gd name="adj" fmla="val 10256"/>
            </a:avLst>
          </a:prstGeom>
          <a:solidFill>
            <a:srgbClr val="EEF9F3"/>
          </a:solidFill>
          <a:ln w="12700">
            <a:solidFill>
              <a:srgbClr val="80CFA6"/>
            </a:solidFill>
            <a:prstDash val="solid"/>
          </a:ln>
          <a:effectLst>
            <a:outerShdw blurRad="12700" dist="50800" dir="2700000" algn="bl" rotWithShape="0">
              <a:srgbClr val="D5DEE7">
                <a:alpha val="24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40" name="Text 38"/>
          <p:cNvSpPr/>
          <p:nvPr/>
        </p:nvSpPr>
        <p:spPr>
          <a:xfrm>
            <a:off x="5056632" y="1938528"/>
            <a:ext cx="1499616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8324A"/>
                </a:solidFill>
              </a:rPr>
              <a:t>Supabase Auth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8324A"/>
                </a:solidFill>
              </a:rPr>
              <a:t>Google / Email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983480" y="3127248"/>
            <a:ext cx="16459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80CFA6"/>
            </a:solidFill>
            <a:prstDash val="solid"/>
          </a:ln>
          <a:effectLst>
            <a:outerShdw blurRad="12700" dist="50800" dir="2700000" algn="bl" rotWithShape="0">
              <a:srgbClr val="D5DEE7">
                <a:alpha val="24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42" name="Text 40"/>
          <p:cNvSpPr/>
          <p:nvPr/>
        </p:nvSpPr>
        <p:spPr>
          <a:xfrm>
            <a:off x="5056632" y="3182112"/>
            <a:ext cx="149961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8324A"/>
                </a:solidFill>
              </a:rPr>
              <a:t>Postgres + RLS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b="1" dirty="0">
                <a:solidFill>
                  <a:srgbClr val="18324A"/>
                </a:solidFill>
              </a:rPr>
              <a:t>metadata operativa</a:t>
            </a:r>
            <a:endParaRPr lang="en-US" sz="1020" dirty="0"/>
          </a:p>
        </p:txBody>
      </p:sp>
      <p:sp>
        <p:nvSpPr>
          <p:cNvPr id="43" name="Shape 41"/>
          <p:cNvSpPr/>
          <p:nvPr/>
        </p:nvSpPr>
        <p:spPr>
          <a:xfrm>
            <a:off x="4983480" y="4041648"/>
            <a:ext cx="16459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80CFA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4" name="Text 42"/>
          <p:cNvSpPr/>
          <p:nvPr/>
        </p:nvSpPr>
        <p:spPr>
          <a:xfrm>
            <a:off x="5056632" y="4096512"/>
            <a:ext cx="149961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8324A"/>
                </a:solidFill>
              </a:rPr>
              <a:t>Edge Functions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b="1" dirty="0">
                <a:solidFill>
                  <a:srgbClr val="18324A"/>
                </a:solidFill>
              </a:rPr>
              <a:t>orquestador backend</a:t>
            </a:r>
            <a:endParaRPr lang="en-US" sz="1020" dirty="0"/>
          </a:p>
        </p:txBody>
      </p:sp>
      <p:sp>
        <p:nvSpPr>
          <p:cNvPr id="45" name="Shape 43"/>
          <p:cNvSpPr/>
          <p:nvPr/>
        </p:nvSpPr>
        <p:spPr>
          <a:xfrm>
            <a:off x="4983480" y="4956048"/>
            <a:ext cx="1645920" cy="530352"/>
          </a:xfrm>
          <a:prstGeom prst="roundRect">
            <a:avLst>
              <a:gd name="adj" fmla="val 13793"/>
            </a:avLst>
          </a:prstGeom>
          <a:solidFill>
            <a:srgbClr val="FAD7D7"/>
          </a:solidFill>
          <a:ln w="12700">
            <a:solidFill>
              <a:srgbClr val="E7A3A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6" name="Text 44"/>
          <p:cNvSpPr/>
          <p:nvPr/>
        </p:nvSpPr>
        <p:spPr>
          <a:xfrm>
            <a:off x="5056632" y="5010912"/>
            <a:ext cx="149961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18324A"/>
                </a:solidFill>
              </a:rPr>
              <a:t>Logs / auditoría</a:t>
            </a:r>
            <a:endParaRPr lang="en-US" sz="960" dirty="0"/>
          </a:p>
          <a:p>
            <a:pPr marL="0" indent="0" algn="ctr">
              <a:buNone/>
            </a:pPr>
            <a:r>
              <a:rPr lang="en-US" sz="960" b="1" dirty="0">
                <a:solidFill>
                  <a:srgbClr val="18324A"/>
                </a:solidFill>
              </a:rPr>
              <a:t>pendiente</a:t>
            </a:r>
            <a:endParaRPr lang="en-US" sz="960" dirty="0"/>
          </a:p>
        </p:txBody>
      </p:sp>
      <p:sp>
        <p:nvSpPr>
          <p:cNvPr id="47" name="Shape 45"/>
          <p:cNvSpPr/>
          <p:nvPr/>
        </p:nvSpPr>
        <p:spPr>
          <a:xfrm>
            <a:off x="7269480" y="1883664"/>
            <a:ext cx="1691640" cy="713232"/>
          </a:xfrm>
          <a:prstGeom prst="roundRect">
            <a:avLst>
              <a:gd name="adj" fmla="val 10256"/>
            </a:avLst>
          </a:prstGeom>
          <a:solidFill>
            <a:srgbClr val="FFF3E8"/>
          </a:solidFill>
          <a:ln w="12700">
            <a:solidFill>
              <a:srgbClr val="F4B183"/>
            </a:solidFill>
            <a:prstDash val="solid"/>
          </a:ln>
          <a:effectLst>
            <a:outerShdw blurRad="12700" dist="50800" dir="2700000" algn="bl" rotWithShape="0">
              <a:srgbClr val="D5DEE7">
                <a:alpha val="24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48" name="Text 46"/>
          <p:cNvSpPr/>
          <p:nvPr/>
        </p:nvSpPr>
        <p:spPr>
          <a:xfrm>
            <a:off x="7342632" y="1938528"/>
            <a:ext cx="1545336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8324A"/>
                </a:solidFill>
              </a:rPr>
              <a:t>Captura efímera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b="1" dirty="0">
                <a:solidFill>
                  <a:srgbClr val="18324A"/>
                </a:solidFill>
              </a:rPr>
              <a:t>Audio / sesión</a:t>
            </a:r>
            <a:endParaRPr lang="en-US" sz="1020" dirty="0"/>
          </a:p>
        </p:txBody>
      </p:sp>
      <p:sp>
        <p:nvSpPr>
          <p:cNvPr id="49" name="Shape 47"/>
          <p:cNvSpPr/>
          <p:nvPr/>
        </p:nvSpPr>
        <p:spPr>
          <a:xfrm>
            <a:off x="7269480" y="3328416"/>
            <a:ext cx="16916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F4B18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0" name="Text 48"/>
          <p:cNvSpPr/>
          <p:nvPr/>
        </p:nvSpPr>
        <p:spPr>
          <a:xfrm>
            <a:off x="7342632" y="3383280"/>
            <a:ext cx="1545336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8324A"/>
                </a:solidFill>
              </a:rPr>
              <a:t>Whisper API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b="1" dirty="0">
                <a:solidFill>
                  <a:srgbClr val="18324A"/>
                </a:solidFill>
              </a:rPr>
              <a:t>transcripción</a:t>
            </a:r>
            <a:endParaRPr lang="en-US" sz="1020" dirty="0"/>
          </a:p>
        </p:txBody>
      </p:sp>
      <p:sp>
        <p:nvSpPr>
          <p:cNvPr id="51" name="Shape 49"/>
          <p:cNvSpPr/>
          <p:nvPr/>
        </p:nvSpPr>
        <p:spPr>
          <a:xfrm>
            <a:off x="7269480" y="4041648"/>
            <a:ext cx="16916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F4B18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2" name="Text 50"/>
          <p:cNvSpPr/>
          <p:nvPr/>
        </p:nvSpPr>
        <p:spPr>
          <a:xfrm>
            <a:off x="7342632" y="4096512"/>
            <a:ext cx="1545336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8324A"/>
                </a:solidFill>
              </a:rPr>
              <a:t>GPT‑4o mini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b="1" dirty="0">
                <a:solidFill>
                  <a:srgbClr val="18324A"/>
                </a:solidFill>
              </a:rPr>
              <a:t>borrador JSON</a:t>
            </a:r>
            <a:endParaRPr lang="en-US" sz="1020" dirty="0"/>
          </a:p>
        </p:txBody>
      </p:sp>
      <p:sp>
        <p:nvSpPr>
          <p:cNvPr id="53" name="Shape 51"/>
          <p:cNvSpPr/>
          <p:nvPr/>
        </p:nvSpPr>
        <p:spPr>
          <a:xfrm>
            <a:off x="7269480" y="4956048"/>
            <a:ext cx="1691640" cy="530352"/>
          </a:xfrm>
          <a:prstGeom prst="roundRect">
            <a:avLst>
              <a:gd name="adj" fmla="val 13793"/>
            </a:avLst>
          </a:prstGeom>
          <a:solidFill>
            <a:srgbClr val="F1EEFF"/>
          </a:solidFill>
          <a:ln w="12700">
            <a:solidFill>
              <a:srgbClr val="B7A6F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4" name="Text 52"/>
          <p:cNvSpPr/>
          <p:nvPr/>
        </p:nvSpPr>
        <p:spPr>
          <a:xfrm>
            <a:off x="7342632" y="5010912"/>
            <a:ext cx="154533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18324A"/>
                </a:solidFill>
              </a:rPr>
              <a:t>Validación</a:t>
            </a:r>
            <a:endParaRPr lang="en-US" sz="960" dirty="0"/>
          </a:p>
          <a:p>
            <a:pPr marL="0" indent="0" algn="ctr">
              <a:buNone/>
            </a:pPr>
            <a:r>
              <a:rPr lang="en-US" sz="960" b="1" dirty="0">
                <a:solidFill>
                  <a:srgbClr val="18324A"/>
                </a:solidFill>
              </a:rPr>
              <a:t>profesional</a:t>
            </a:r>
            <a:endParaRPr lang="en-US" sz="960" dirty="0"/>
          </a:p>
        </p:txBody>
      </p:sp>
      <p:sp>
        <p:nvSpPr>
          <p:cNvPr id="55" name="Shape 53"/>
          <p:cNvSpPr/>
          <p:nvPr/>
        </p:nvSpPr>
        <p:spPr>
          <a:xfrm>
            <a:off x="9646920" y="1883664"/>
            <a:ext cx="17373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B7A6F6"/>
            </a:solidFill>
            <a:prstDash val="solid"/>
          </a:ln>
          <a:effectLst>
            <a:outerShdw blurRad="12700" dist="50800" dir="2700000" algn="bl" rotWithShape="0">
              <a:srgbClr val="D5DEE7">
                <a:alpha val="24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6" name="Text 54"/>
          <p:cNvSpPr/>
          <p:nvPr/>
        </p:nvSpPr>
        <p:spPr>
          <a:xfrm>
            <a:off x="9720072" y="1938528"/>
            <a:ext cx="159105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18324A"/>
                </a:solidFill>
              </a:rPr>
              <a:t>Google Drive</a:t>
            </a:r>
            <a:endParaRPr lang="en-US" sz="970" dirty="0"/>
          </a:p>
          <a:p>
            <a:pPr marL="0" indent="0" algn="ctr">
              <a:buNone/>
            </a:pPr>
            <a:r>
              <a:rPr lang="en-US" sz="970" b="1" dirty="0">
                <a:solidFill>
                  <a:srgbClr val="18324A"/>
                </a:solidFill>
              </a:rPr>
              <a:t>repositorio profesional</a:t>
            </a:r>
            <a:endParaRPr lang="en-US" sz="970" dirty="0"/>
          </a:p>
        </p:txBody>
      </p:sp>
      <p:sp>
        <p:nvSpPr>
          <p:cNvPr id="57" name="Shape 55"/>
          <p:cNvSpPr/>
          <p:nvPr/>
        </p:nvSpPr>
        <p:spPr>
          <a:xfrm>
            <a:off x="9646920" y="2697480"/>
            <a:ext cx="17373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A8B4B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8" name="Text 56"/>
          <p:cNvSpPr/>
          <p:nvPr/>
        </p:nvSpPr>
        <p:spPr>
          <a:xfrm>
            <a:off x="9720072" y="2752344"/>
            <a:ext cx="159105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8324A"/>
                </a:solidFill>
              </a:rPr>
              <a:t>Google / Microsoft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8324A"/>
                </a:solidFill>
              </a:rPr>
              <a:t>OAuth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9646920" y="3520440"/>
            <a:ext cx="17373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A8B4B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0" name="Text 58"/>
          <p:cNvSpPr/>
          <p:nvPr/>
        </p:nvSpPr>
        <p:spPr>
          <a:xfrm>
            <a:off x="9720072" y="3575304"/>
            <a:ext cx="159105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8324A"/>
                </a:solidFill>
              </a:rPr>
              <a:t>Email transaccional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8324A"/>
                </a:solidFill>
              </a:rPr>
              <a:t>Resend / Postmark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9646920" y="4343400"/>
            <a:ext cx="17373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A8B4B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2" name="Text 60"/>
          <p:cNvSpPr/>
          <p:nvPr/>
        </p:nvSpPr>
        <p:spPr>
          <a:xfrm>
            <a:off x="9720072" y="4398264"/>
            <a:ext cx="159105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8324A"/>
                </a:solidFill>
              </a:rPr>
              <a:t>Calendario / WhatsApp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502920" y="5989320"/>
            <a:ext cx="3200400" cy="393192"/>
          </a:xfrm>
          <a:prstGeom prst="roundRect">
            <a:avLst>
              <a:gd name="adj" fmla="val 18605"/>
            </a:avLst>
          </a:prstGeom>
          <a:solidFill>
            <a:srgbClr val="18324A"/>
          </a:solidFill>
          <a:ln w="12700">
            <a:solidFill>
              <a:srgbClr val="18324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4" name="Text 62"/>
          <p:cNvSpPr/>
          <p:nvPr/>
        </p:nvSpPr>
        <p:spPr>
          <a:xfrm>
            <a:off x="576072" y="6044184"/>
            <a:ext cx="305409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FFFFFF"/>
                </a:solidFill>
              </a:rPr>
              <a:t>Procesamiento efímero: audio no es repositorio permanente</a:t>
            </a:r>
            <a:endParaRPr lang="en-US" sz="940" dirty="0"/>
          </a:p>
        </p:txBody>
      </p:sp>
      <p:sp>
        <p:nvSpPr>
          <p:cNvPr id="65" name="Shape 63"/>
          <p:cNvSpPr/>
          <p:nvPr/>
        </p:nvSpPr>
        <p:spPr>
          <a:xfrm>
            <a:off x="3977640" y="5989320"/>
            <a:ext cx="2834640" cy="393192"/>
          </a:xfrm>
          <a:prstGeom prst="roundRect">
            <a:avLst>
              <a:gd name="adj" fmla="val 18605"/>
            </a:avLst>
          </a:prstGeom>
          <a:solidFill>
            <a:srgbClr val="18324A"/>
          </a:solidFill>
          <a:ln w="12700">
            <a:solidFill>
              <a:srgbClr val="18324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6" name="Text 64"/>
          <p:cNvSpPr/>
          <p:nvPr/>
        </p:nvSpPr>
        <p:spPr>
          <a:xfrm>
            <a:off x="4050792" y="6044184"/>
            <a:ext cx="268833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FFFFFF"/>
                </a:solidFill>
              </a:rPr>
              <a:t>Control humano: IA solo genera borradores editables</a:t>
            </a:r>
            <a:endParaRPr lang="en-US" sz="940" dirty="0"/>
          </a:p>
        </p:txBody>
      </p:sp>
      <p:sp>
        <p:nvSpPr>
          <p:cNvPr id="67" name="Shape 65"/>
          <p:cNvSpPr/>
          <p:nvPr/>
        </p:nvSpPr>
        <p:spPr>
          <a:xfrm>
            <a:off x="7086600" y="5989320"/>
            <a:ext cx="2834640" cy="393192"/>
          </a:xfrm>
          <a:prstGeom prst="roundRect">
            <a:avLst>
              <a:gd name="adj" fmla="val 18605"/>
            </a:avLst>
          </a:prstGeom>
          <a:solidFill>
            <a:srgbClr val="18324A"/>
          </a:solidFill>
          <a:ln w="12700">
            <a:solidFill>
              <a:srgbClr val="18324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8" name="Text 66"/>
          <p:cNvSpPr/>
          <p:nvPr/>
        </p:nvSpPr>
        <p:spPr>
          <a:xfrm>
            <a:off x="7159752" y="6044184"/>
            <a:ext cx="268833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FFFFFF"/>
                </a:solidFill>
              </a:rPr>
              <a:t>Trazabilidad: logs, validación y estados del flujo</a:t>
            </a:r>
            <a:endParaRPr lang="en-US" sz="940" dirty="0"/>
          </a:p>
        </p:txBody>
      </p:sp>
      <p:sp>
        <p:nvSpPr>
          <p:cNvPr id="69" name="Shape 67"/>
          <p:cNvSpPr/>
          <p:nvPr/>
        </p:nvSpPr>
        <p:spPr>
          <a:xfrm>
            <a:off x="10195560" y="5989320"/>
            <a:ext cx="1097280" cy="393192"/>
          </a:xfrm>
          <a:prstGeom prst="roundRect">
            <a:avLst>
              <a:gd name="adj" fmla="val 18605"/>
            </a:avLst>
          </a:prstGeom>
          <a:solidFill>
            <a:srgbClr val="18AFC1"/>
          </a:solidFill>
          <a:ln w="12700">
            <a:solidFill>
              <a:srgbClr val="18AFC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0" name="Text 68"/>
          <p:cNvSpPr/>
          <p:nvPr/>
        </p:nvSpPr>
        <p:spPr>
          <a:xfrm>
            <a:off x="10268712" y="6044184"/>
            <a:ext cx="95097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FFFFFF"/>
                </a:solidFill>
              </a:rPr>
              <a:t>MVP → SaaS</a:t>
            </a:r>
            <a:endParaRPr lang="en-US" sz="9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Ambientes y ruta de escalamiento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59436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</a:rPr>
              <a:t>Separación operativa para DEV / QA / PROD y evolución desde piloto hasta SaaS productivo.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2372360" y="3086608"/>
            <a:ext cx="1005840" cy="0"/>
          </a:xfrm>
          <a:prstGeom prst="line">
            <a:avLst/>
          </a:prstGeom>
          <a:noFill/>
          <a:ln w="17780">
            <a:solidFill>
              <a:srgbClr val="18AFC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4876800" y="3086608"/>
            <a:ext cx="1005840" cy="0"/>
          </a:xfrm>
          <a:prstGeom prst="line">
            <a:avLst/>
          </a:prstGeom>
          <a:noFill/>
          <a:ln w="17780">
            <a:solidFill>
              <a:srgbClr val="18AFC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6854444" y="3094736"/>
            <a:ext cx="1005840" cy="0"/>
          </a:xfrm>
          <a:prstGeom prst="line">
            <a:avLst/>
          </a:prstGeom>
          <a:noFill/>
          <a:ln w="17780">
            <a:solidFill>
              <a:srgbClr val="18AFC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9192768" y="3094736"/>
            <a:ext cx="1005840" cy="0"/>
          </a:xfrm>
          <a:prstGeom prst="line">
            <a:avLst/>
          </a:prstGeom>
          <a:noFill/>
          <a:ln w="17780">
            <a:solidFill>
              <a:srgbClr val="18AFC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8" name="Shape 6"/>
          <p:cNvSpPr/>
          <p:nvPr/>
        </p:nvSpPr>
        <p:spPr>
          <a:xfrm>
            <a:off x="502920" y="1115568"/>
            <a:ext cx="3337560" cy="1353312"/>
          </a:xfrm>
          <a:prstGeom prst="roundRect">
            <a:avLst>
              <a:gd name="adj" fmla="val 5405"/>
            </a:avLst>
          </a:prstGeom>
          <a:solidFill>
            <a:srgbClr val="E6F8FA"/>
          </a:solidFill>
          <a:ln w="12700">
            <a:solidFill>
              <a:srgbClr val="18AFC1"/>
            </a:solidFill>
            <a:prstDash val="solid"/>
          </a:ln>
          <a:effectLst>
            <a:outerShdw blurRad="12700" dist="50800" dir="2700000" algn="bl" rotWithShape="0">
              <a:srgbClr val="D5DEE7">
                <a:alpha val="24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576072" y="1170432"/>
            <a:ext cx="3191256" cy="1243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8324A"/>
                </a:solidFill>
              </a:rPr>
              <a:t>DEV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8324A"/>
                </a:solidFill>
              </a:rPr>
              <a:t>fluyepro-dev.vercel.app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8324A"/>
                </a:solidFill>
              </a:rPr>
              <a:t>branch: develop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8324A"/>
                </a:solidFill>
              </a:rPr>
              <a:t>VITE_APP_ENV=DEV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34840" y="1115568"/>
            <a:ext cx="3337560" cy="1353312"/>
          </a:xfrm>
          <a:prstGeom prst="roundRect">
            <a:avLst>
              <a:gd name="adj" fmla="val 5405"/>
            </a:avLst>
          </a:prstGeom>
          <a:solidFill>
            <a:srgbClr val="EEF9F3"/>
          </a:solidFill>
          <a:ln w="12700">
            <a:solidFill>
              <a:srgbClr val="80CFA6"/>
            </a:solidFill>
            <a:prstDash val="solid"/>
          </a:ln>
          <a:effectLst>
            <a:outerShdw blurRad="12700" dist="50800" dir="2700000" algn="bl" rotWithShape="0">
              <a:srgbClr val="D5DEE7">
                <a:alpha val="24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4507992" y="1170432"/>
            <a:ext cx="3191256" cy="1243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8324A"/>
                </a:solidFill>
              </a:rPr>
              <a:t>QA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8324A"/>
                </a:solidFill>
              </a:rPr>
              <a:t>fluyepro-qa.vercel.app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8324A"/>
                </a:solidFill>
              </a:rPr>
              <a:t>branch: qa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8324A"/>
                </a:solidFill>
              </a:rPr>
              <a:t>VITE_APP_ENV=QA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66760" y="1115568"/>
            <a:ext cx="3337560" cy="1353312"/>
          </a:xfrm>
          <a:prstGeom prst="roundRect">
            <a:avLst>
              <a:gd name="adj" fmla="val 5405"/>
            </a:avLst>
          </a:prstGeom>
          <a:solidFill>
            <a:srgbClr val="F1EEFF"/>
          </a:solidFill>
          <a:ln w="12700">
            <a:solidFill>
              <a:srgbClr val="B7A6F6"/>
            </a:solidFill>
            <a:prstDash val="solid"/>
          </a:ln>
          <a:effectLst>
            <a:outerShdw blurRad="12700" dist="50800" dir="2700000" algn="bl" rotWithShape="0">
              <a:srgbClr val="D5DEE7">
                <a:alpha val="24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8439912" y="1170432"/>
            <a:ext cx="3191256" cy="1243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8324A"/>
                </a:solidFill>
              </a:rPr>
              <a:t>PROD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8324A"/>
                </a:solidFill>
              </a:rPr>
              <a:t>fluyepro-prod.vercel.app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8324A"/>
                </a:solidFill>
              </a:rPr>
              <a:t>branch: main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8324A"/>
                </a:solidFill>
              </a:rPr>
              <a:t>VITE_APP_ENV=PROD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68680" y="2761488"/>
            <a:ext cx="1828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18AFC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941832" y="2816352"/>
            <a:ext cx="168249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8324A"/>
                </a:solidFill>
              </a:rPr>
              <a:t>2 usuarios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8324A"/>
                </a:solidFill>
              </a:rPr>
              <a:t>Demo / validación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96920" y="2761488"/>
            <a:ext cx="1828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18AFC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3370072" y="2816352"/>
            <a:ext cx="168249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8324A"/>
                </a:solidFill>
              </a:rPr>
              <a:t>100 usuarios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8324A"/>
                </a:solidFill>
              </a:rPr>
              <a:t>Piloto controlado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28360" y="2761488"/>
            <a:ext cx="1828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18AFC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6001512" y="2816352"/>
            <a:ext cx="168249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8324A"/>
                </a:solidFill>
              </a:rPr>
              <a:t>1.000 usuarios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b="1" dirty="0">
                <a:solidFill>
                  <a:srgbClr val="18324A"/>
                </a:solidFill>
              </a:rPr>
              <a:t>Pre‑producción SaaS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8031480" y="2761488"/>
            <a:ext cx="1828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18AFC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8104632" y="2816352"/>
            <a:ext cx="168249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8324A"/>
                </a:solidFill>
              </a:rPr>
              <a:t>10.000 usuarios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b="1" dirty="0">
                <a:solidFill>
                  <a:srgbClr val="18324A"/>
                </a:solidFill>
              </a:rPr>
              <a:t>Escala gobernada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10337800" y="2761488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18AFC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/>
          <p:nvPr/>
        </p:nvSpPr>
        <p:spPr>
          <a:xfrm>
            <a:off x="10410952" y="2816352"/>
            <a:ext cx="1344168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8324A"/>
                </a:solidFill>
              </a:rPr>
              <a:t>Enterprise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b="1" dirty="0">
                <a:solidFill>
                  <a:srgbClr val="18324A"/>
                </a:solidFill>
              </a:rPr>
              <a:t>Hardening avanzado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502920" y="3822192"/>
            <a:ext cx="251460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A8B4BF"/>
            </a:solidFill>
            <a:prstDash val="solid"/>
          </a:ln>
          <a:effectLst>
            <a:outerShdw blurRad="12700" dist="50800" dir="2700000" algn="bl" rotWithShape="0">
              <a:srgbClr val="D5DEE7">
                <a:alpha val="24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/>
          <p:nvPr/>
        </p:nvSpPr>
        <p:spPr>
          <a:xfrm>
            <a:off x="576072" y="3877056"/>
            <a:ext cx="2368296" cy="11521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8324A"/>
                </a:solidFill>
              </a:rPr>
              <a:t>Base actual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18324A"/>
                </a:solidFill>
              </a:rPr>
              <a:t>• React + Vercel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18324A"/>
                </a:solidFill>
              </a:rPr>
              <a:t>• Supabase Auth/DB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18324A"/>
                </a:solidFill>
              </a:rPr>
              <a:t>• Google Drive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18324A"/>
                </a:solidFill>
              </a:rPr>
              <a:t>• Login Gmail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3273552" y="3822192"/>
            <a:ext cx="251460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A8B4BF"/>
            </a:solidFill>
            <a:prstDash val="solid"/>
          </a:ln>
          <a:effectLst>
            <a:outerShdw blurRad="12700" dist="50800" dir="2700000" algn="bl" rotWithShape="0">
              <a:srgbClr val="D5DEE7">
                <a:alpha val="24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7" name="Text 25"/>
          <p:cNvSpPr/>
          <p:nvPr/>
        </p:nvSpPr>
        <p:spPr>
          <a:xfrm>
            <a:off x="3346704" y="3877056"/>
            <a:ext cx="2368296" cy="11521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8324A"/>
                </a:solidFill>
              </a:rPr>
              <a:t>Antes de piloto real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18324A"/>
                </a:solidFill>
              </a:rPr>
              <a:t>• Supabase DEV/QA/PROD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18324A"/>
                </a:solidFill>
              </a:rPr>
              <a:t>• RLS revisado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18324A"/>
                </a:solidFill>
              </a:rPr>
              <a:t>• Backups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18324A"/>
                </a:solidFill>
              </a:rPr>
              <a:t>• Logs mínimos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6044184" y="3822192"/>
            <a:ext cx="251460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A8B4BF"/>
            </a:solidFill>
            <a:prstDash val="solid"/>
          </a:ln>
          <a:effectLst>
            <a:outerShdw blurRad="12700" dist="50800" dir="2700000" algn="bl" rotWithShape="0">
              <a:srgbClr val="D5DEE7">
                <a:alpha val="24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9" name="Text 27"/>
          <p:cNvSpPr/>
          <p:nvPr/>
        </p:nvSpPr>
        <p:spPr>
          <a:xfrm>
            <a:off x="6117336" y="3877056"/>
            <a:ext cx="2368296" cy="11521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8324A"/>
                </a:solidFill>
              </a:rPr>
              <a:t>SaaS productivo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18324A"/>
                </a:solidFill>
              </a:rPr>
              <a:t>• Índices SQL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18324A"/>
                </a:solidFill>
              </a:rPr>
              <a:t>• Monitoring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18324A"/>
                </a:solidFill>
              </a:rPr>
              <a:t>• Resend/Postmark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18324A"/>
                </a:solidFill>
              </a:rPr>
              <a:t>• Auditoría formal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8814816" y="3822192"/>
            <a:ext cx="251460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A8B4BF"/>
            </a:solidFill>
            <a:prstDash val="solid"/>
          </a:ln>
          <a:effectLst>
            <a:outerShdw blurRad="12700" dist="50800" dir="2700000" algn="bl" rotWithShape="0">
              <a:srgbClr val="D5DEE7">
                <a:alpha val="24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1" name="Text 29"/>
          <p:cNvSpPr/>
          <p:nvPr/>
        </p:nvSpPr>
        <p:spPr>
          <a:xfrm>
            <a:off x="8887968" y="3877056"/>
            <a:ext cx="2368296" cy="11521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8324A"/>
                </a:solidFill>
              </a:rPr>
              <a:t>Escala 10k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18324A"/>
                </a:solidFill>
              </a:rPr>
              <a:t>• Colas / workers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18324A"/>
                </a:solidFill>
              </a:rPr>
              <a:t>• Rate limits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18324A"/>
                </a:solidFill>
              </a:rPr>
              <a:t>• Storage gobernado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18324A"/>
                </a:solidFill>
              </a:rPr>
              <a:t>• Cost control</a:t>
            </a:r>
            <a:endParaRPr lang="en-US" sz="1020" dirty="0"/>
          </a:p>
        </p:txBody>
      </p:sp>
      <p:sp>
        <p:nvSpPr>
          <p:cNvPr id="32" name="Shape 30"/>
          <p:cNvSpPr/>
          <p:nvPr/>
        </p:nvSpPr>
        <p:spPr>
          <a:xfrm>
            <a:off x="502920" y="5715000"/>
            <a:ext cx="11201400" cy="438912"/>
          </a:xfrm>
          <a:prstGeom prst="roundRect">
            <a:avLst>
              <a:gd name="adj" fmla="val 16667"/>
            </a:avLst>
          </a:prstGeom>
          <a:solidFill>
            <a:srgbClr val="18324A"/>
          </a:solidFill>
          <a:ln w="12700">
            <a:solidFill>
              <a:srgbClr val="18324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Text 31"/>
          <p:cNvSpPr/>
          <p:nvPr/>
        </p:nvSpPr>
        <p:spPr>
          <a:xfrm>
            <a:off x="576072" y="5769864"/>
            <a:ext cx="1105509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</a:rPr>
              <a:t>Decisión arquitectónica: no migrar a  Hosting </a:t>
            </a:r>
            <a:r>
              <a:rPr lang="en-US" sz="1020" b="1" dirty="0" err="1">
                <a:solidFill>
                  <a:srgbClr val="FFFFFF"/>
                </a:solidFill>
              </a:rPr>
              <a:t>aún</a:t>
            </a:r>
            <a:r>
              <a:rPr lang="en-US" sz="1020" b="1" dirty="0">
                <a:solidFill>
                  <a:srgbClr val="FFFFFF"/>
                </a:solidFill>
              </a:rPr>
              <a:t>. Vercel + Supabase es adecuado para MVP y crecimiento progresivo; se endurece por etapas antes de producción real.</a:t>
            </a:r>
            <a:endParaRPr lang="en-US" sz="10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339</Words>
  <Application>Microsoft Office PowerPoint</Application>
  <PresentationFormat>Panorámica</PresentationFormat>
  <Paragraphs>94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5" baseType="lpstr">
      <vt:lpstr>Aptos Display</vt:lpstr>
      <vt:lpstr>Arial</vt:lpstr>
      <vt:lpstr>Office Theme</vt:lpstr>
      <vt:lpstr>Presentación de PowerPoint</vt:lpstr>
      <vt:lpstr>Presentación de PowerPoint</vt:lpstr>
    </vt:vector>
  </TitlesOfParts>
  <Company>FluyePro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Arquitectura FluyePro / Mental-IA</dc:title>
  <dc:subject>Diagrama editable arquitectura FluyePro / Mental-IA</dc:subject>
  <dc:creator>OpenAI</dc:creator>
  <cp:lastModifiedBy>Rodolfo Escobar Keilendt</cp:lastModifiedBy>
  <cp:revision>2</cp:revision>
  <dcterms:created xsi:type="dcterms:W3CDTF">2026-06-03T04:09:57Z</dcterms:created>
  <dcterms:modified xsi:type="dcterms:W3CDTF">2026-06-03T04:34:07Z</dcterms:modified>
</cp:coreProperties>
</file>