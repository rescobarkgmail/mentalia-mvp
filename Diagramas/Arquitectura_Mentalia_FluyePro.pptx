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tecnológica editable — FluyePro / Mental‑IA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5943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MVP alineado al PFM: reduce fricción administrativa, mantiene control humano y repositorios del profesional.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2084832" y="2148840"/>
            <a:ext cx="621792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084832" y="2834640"/>
            <a:ext cx="621792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17136" y="2240280"/>
            <a:ext cx="384048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675120" y="2240280"/>
            <a:ext cx="512064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75120" y="3465576"/>
            <a:ext cx="512064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675120" y="4343400"/>
            <a:ext cx="512064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052560" y="2240280"/>
            <a:ext cx="512064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52560" y="4343400"/>
            <a:ext cx="512064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715000" y="2679192"/>
            <a:ext cx="0" cy="365760"/>
          </a:xfrm>
          <a:prstGeom prst="line">
            <a:avLst/>
          </a:prstGeom>
          <a:noFill/>
          <a:ln w="1397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715000" y="3822192"/>
            <a:ext cx="0" cy="128016"/>
          </a:xfrm>
          <a:prstGeom prst="line">
            <a:avLst/>
          </a:prstGeom>
          <a:noFill/>
          <a:ln w="1397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15000" y="4754880"/>
            <a:ext cx="0" cy="128016"/>
          </a:xfrm>
          <a:prstGeom prst="line">
            <a:avLst/>
          </a:prstGeom>
          <a:noFill/>
          <a:ln w="13970">
            <a:solidFill>
              <a:srgbClr val="A8B4BF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" y="96012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6F8FA"/>
          </a:solidFill>
          <a:ln w="12700">
            <a:solidFill>
              <a:srgbClr val="18AFC1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0352" y="1014984"/>
            <a:ext cx="1110081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Capa transversal de seguridad, orquestación y gobernanza: autenticación, RLS, consentimiento, trazabilidad y control humano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1481328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1531620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8324A"/>
                </a:solidFill>
              </a:rPr>
              <a:t>Usuarios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788920" y="1481328"/>
            <a:ext cx="1645920" cy="256032"/>
          </a:xfrm>
          <a:prstGeom prst="roundRect">
            <a:avLst>
              <a:gd name="adj" fmla="val 214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1531620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8324A"/>
                </a:solidFill>
              </a:rPr>
              <a:t>Frontend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4983480" y="1481328"/>
            <a:ext cx="1645920" cy="256032"/>
          </a:xfrm>
          <a:prstGeom prst="roundRect">
            <a:avLst>
              <a:gd name="adj" fmla="val 214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56632" y="1531620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8324A"/>
                </a:solidFill>
              </a:rPr>
              <a:t>Backbone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269480" y="1481328"/>
            <a:ext cx="1645920" cy="256032"/>
          </a:xfrm>
          <a:prstGeom prst="roundRect">
            <a:avLst>
              <a:gd name="adj" fmla="val 214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42632" y="1531620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8324A"/>
                </a:solidFill>
              </a:rPr>
              <a:t>IA / Funciones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9646920" y="1481328"/>
            <a:ext cx="1645920" cy="256032"/>
          </a:xfrm>
          <a:prstGeom prst="roundRect">
            <a:avLst>
              <a:gd name="adj" fmla="val 214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20072" y="1531620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8324A"/>
                </a:solidFill>
              </a:rPr>
              <a:t>Externos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02920" y="1883664"/>
            <a:ext cx="15087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76072" y="1938528"/>
            <a:ext cx="136245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Profesional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clínico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2542032"/>
            <a:ext cx="15087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76072" y="2596896"/>
            <a:ext cx="136245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Paciente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reserva pública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401568"/>
            <a:ext cx="15087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" y="3456432"/>
            <a:ext cx="136245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Administrador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/ equipo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88920" y="1883664"/>
            <a:ext cx="16459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862072" y="1938528"/>
            <a:ext cx="149961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React + Vite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App web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88920" y="2944368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E6F8FA"/>
          </a:solidFill>
          <a:ln w="12700">
            <a:solidFill>
              <a:srgbClr val="18AFC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62072" y="2999232"/>
            <a:ext cx="149961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Vercel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DEV • QA • PROD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88920" y="4041648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62072" y="4096512"/>
            <a:ext cx="149961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8324A"/>
                </a:solidFill>
              </a:rPr>
              <a:t>Variables por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8324A"/>
                </a:solidFill>
              </a:rPr>
              <a:t>ambiente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983480" y="1883664"/>
            <a:ext cx="1645920" cy="713232"/>
          </a:xfrm>
          <a:prstGeom prst="roundRect">
            <a:avLst>
              <a:gd name="adj" fmla="val 10256"/>
            </a:avLst>
          </a:prstGeom>
          <a:solidFill>
            <a:srgbClr val="EEF9F3"/>
          </a:solidFill>
          <a:ln w="12700">
            <a:solidFill>
              <a:srgbClr val="80CFA6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056632" y="1938528"/>
            <a:ext cx="149961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Supabase Auth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Google / Email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983480" y="3127248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80CFA6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056632" y="3182112"/>
            <a:ext cx="149961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Postgres + RLS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metadata operativa</a:t>
            </a:r>
            <a:endParaRPr lang="en-US" sz="1020" dirty="0"/>
          </a:p>
        </p:txBody>
      </p:sp>
      <p:sp>
        <p:nvSpPr>
          <p:cNvPr id="43" name="Shape 41"/>
          <p:cNvSpPr/>
          <p:nvPr/>
        </p:nvSpPr>
        <p:spPr>
          <a:xfrm>
            <a:off x="4983480" y="4041648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80CFA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56632" y="4096512"/>
            <a:ext cx="149961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Edge Functions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orquestador backend</a:t>
            </a:r>
            <a:endParaRPr lang="en-US" sz="1020" dirty="0"/>
          </a:p>
        </p:txBody>
      </p:sp>
      <p:sp>
        <p:nvSpPr>
          <p:cNvPr id="45" name="Shape 43"/>
          <p:cNvSpPr/>
          <p:nvPr/>
        </p:nvSpPr>
        <p:spPr>
          <a:xfrm>
            <a:off x="4983480" y="4956048"/>
            <a:ext cx="1645920" cy="530352"/>
          </a:xfrm>
          <a:prstGeom prst="roundRect">
            <a:avLst>
              <a:gd name="adj" fmla="val 13793"/>
            </a:avLst>
          </a:prstGeom>
          <a:solidFill>
            <a:srgbClr val="FAD7D7"/>
          </a:solidFill>
          <a:ln w="12700">
            <a:solidFill>
              <a:srgbClr val="E7A3A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56632" y="5010912"/>
            <a:ext cx="14996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8324A"/>
                </a:solidFill>
              </a:rPr>
              <a:t>Logs / auditoría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18324A"/>
                </a:solidFill>
              </a:rPr>
              <a:t>pendiente</a:t>
            </a:r>
            <a:endParaRPr lang="en-US" sz="960" dirty="0"/>
          </a:p>
        </p:txBody>
      </p:sp>
      <p:sp>
        <p:nvSpPr>
          <p:cNvPr id="47" name="Shape 45"/>
          <p:cNvSpPr/>
          <p:nvPr/>
        </p:nvSpPr>
        <p:spPr>
          <a:xfrm>
            <a:off x="7269480" y="1883664"/>
            <a:ext cx="1691640" cy="713232"/>
          </a:xfrm>
          <a:prstGeom prst="roundRect">
            <a:avLst>
              <a:gd name="adj" fmla="val 10256"/>
            </a:avLst>
          </a:prstGeom>
          <a:solidFill>
            <a:srgbClr val="FFF3E8"/>
          </a:solidFill>
          <a:ln w="12700">
            <a:solidFill>
              <a:srgbClr val="F4B183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342632" y="1938528"/>
            <a:ext cx="154533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Captura efímera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Audio / sesión</a:t>
            </a:r>
            <a:endParaRPr lang="en-US" sz="1020" dirty="0"/>
          </a:p>
        </p:txBody>
      </p:sp>
      <p:sp>
        <p:nvSpPr>
          <p:cNvPr id="49" name="Shape 47"/>
          <p:cNvSpPr/>
          <p:nvPr/>
        </p:nvSpPr>
        <p:spPr>
          <a:xfrm>
            <a:off x="7269480" y="3328416"/>
            <a:ext cx="16916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4B18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42632" y="3383280"/>
            <a:ext cx="154533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Whisper API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transcripción</a:t>
            </a:r>
            <a:endParaRPr lang="en-US" sz="1020" dirty="0"/>
          </a:p>
        </p:txBody>
      </p:sp>
      <p:sp>
        <p:nvSpPr>
          <p:cNvPr id="51" name="Shape 49"/>
          <p:cNvSpPr/>
          <p:nvPr/>
        </p:nvSpPr>
        <p:spPr>
          <a:xfrm>
            <a:off x="7269480" y="4041648"/>
            <a:ext cx="16916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4B18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42632" y="4096512"/>
            <a:ext cx="154533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GPT‑4o mini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borrador JSON</a:t>
            </a:r>
            <a:endParaRPr lang="en-US" sz="1020" dirty="0"/>
          </a:p>
        </p:txBody>
      </p:sp>
      <p:sp>
        <p:nvSpPr>
          <p:cNvPr id="53" name="Shape 51"/>
          <p:cNvSpPr/>
          <p:nvPr/>
        </p:nvSpPr>
        <p:spPr>
          <a:xfrm>
            <a:off x="7269480" y="4956048"/>
            <a:ext cx="1691640" cy="530352"/>
          </a:xfrm>
          <a:prstGeom prst="roundRect">
            <a:avLst>
              <a:gd name="adj" fmla="val 13793"/>
            </a:avLst>
          </a:prstGeom>
          <a:solidFill>
            <a:srgbClr val="F1EEFF"/>
          </a:solidFill>
          <a:ln w="12700">
            <a:solidFill>
              <a:srgbClr val="B7A6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42632" y="5010912"/>
            <a:ext cx="15453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8324A"/>
                </a:solidFill>
              </a:rPr>
              <a:t>Validación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18324A"/>
                </a:solidFill>
              </a:rPr>
              <a:t>profesional</a:t>
            </a:r>
            <a:endParaRPr lang="en-US" sz="960" dirty="0"/>
          </a:p>
        </p:txBody>
      </p:sp>
      <p:sp>
        <p:nvSpPr>
          <p:cNvPr id="55" name="Shape 53"/>
          <p:cNvSpPr/>
          <p:nvPr/>
        </p:nvSpPr>
        <p:spPr>
          <a:xfrm>
            <a:off x="9646920" y="1883664"/>
            <a:ext cx="1737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7A6F6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9720072" y="1938528"/>
            <a:ext cx="159105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8324A"/>
                </a:solidFill>
              </a:rPr>
              <a:t>Google Drive</a:t>
            </a:r>
            <a:endParaRPr lang="en-US" sz="970" dirty="0"/>
          </a:p>
          <a:p>
            <a:pPr algn="ctr" indent="0" marL="0">
              <a:buNone/>
            </a:pPr>
            <a:r>
              <a:rPr lang="en-US" sz="970" b="1" dirty="0">
                <a:solidFill>
                  <a:srgbClr val="18324A"/>
                </a:solidFill>
              </a:rPr>
              <a:t>repositorio profesional</a:t>
            </a:r>
            <a:endParaRPr lang="en-US" sz="970" dirty="0"/>
          </a:p>
        </p:txBody>
      </p:sp>
      <p:sp>
        <p:nvSpPr>
          <p:cNvPr id="57" name="Shape 55"/>
          <p:cNvSpPr/>
          <p:nvPr/>
        </p:nvSpPr>
        <p:spPr>
          <a:xfrm>
            <a:off x="9646920" y="2697480"/>
            <a:ext cx="1737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20072" y="2752344"/>
            <a:ext cx="159105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8324A"/>
                </a:solidFill>
              </a:rPr>
              <a:t>Google / Microsoft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8324A"/>
                </a:solidFill>
              </a:rPr>
              <a:t>OAuth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646920" y="3520440"/>
            <a:ext cx="1737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720072" y="3575304"/>
            <a:ext cx="159105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8324A"/>
                </a:solidFill>
              </a:rPr>
              <a:t>Email transaccional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8324A"/>
                </a:solidFill>
              </a:rPr>
              <a:t>Resend / Postmark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46920" y="4343400"/>
            <a:ext cx="1737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20072" y="4398264"/>
            <a:ext cx="159105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8324A"/>
                </a:solidFill>
              </a:rPr>
              <a:t>Calendario / WhatsApp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8324A"/>
                </a:solidFill>
              </a:rPr>
              <a:t>futuro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02920" y="5989320"/>
            <a:ext cx="3200400" cy="393192"/>
          </a:xfrm>
          <a:prstGeom prst="roundRect">
            <a:avLst>
              <a:gd name="adj" fmla="val 18605"/>
            </a:avLst>
          </a:prstGeom>
          <a:solidFill>
            <a:srgbClr val="18324A"/>
          </a:solidFill>
          <a:ln w="12700">
            <a:solidFill>
              <a:srgbClr val="18324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6072" y="6044184"/>
            <a:ext cx="30540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</a:rPr>
              <a:t>Procesamiento efímero: audio no es repositorio permanente</a:t>
            </a:r>
            <a:endParaRPr lang="en-US" sz="940" dirty="0"/>
          </a:p>
        </p:txBody>
      </p:sp>
      <p:sp>
        <p:nvSpPr>
          <p:cNvPr id="65" name="Shape 63"/>
          <p:cNvSpPr/>
          <p:nvPr/>
        </p:nvSpPr>
        <p:spPr>
          <a:xfrm>
            <a:off x="3977640" y="5989320"/>
            <a:ext cx="2834640" cy="393192"/>
          </a:xfrm>
          <a:prstGeom prst="roundRect">
            <a:avLst>
              <a:gd name="adj" fmla="val 18605"/>
            </a:avLst>
          </a:prstGeom>
          <a:solidFill>
            <a:srgbClr val="18324A"/>
          </a:solidFill>
          <a:ln w="12700">
            <a:solidFill>
              <a:srgbClr val="18324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50792" y="6044184"/>
            <a:ext cx="26883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</a:rPr>
              <a:t>Control humano: IA solo genera borradores editables</a:t>
            </a:r>
            <a:endParaRPr lang="en-US" sz="940" dirty="0"/>
          </a:p>
        </p:txBody>
      </p:sp>
      <p:sp>
        <p:nvSpPr>
          <p:cNvPr id="67" name="Shape 65"/>
          <p:cNvSpPr/>
          <p:nvPr/>
        </p:nvSpPr>
        <p:spPr>
          <a:xfrm>
            <a:off x="7086600" y="5989320"/>
            <a:ext cx="2834640" cy="393192"/>
          </a:xfrm>
          <a:prstGeom prst="roundRect">
            <a:avLst>
              <a:gd name="adj" fmla="val 18605"/>
            </a:avLst>
          </a:prstGeom>
          <a:solidFill>
            <a:srgbClr val="18324A"/>
          </a:solidFill>
          <a:ln w="12700">
            <a:solidFill>
              <a:srgbClr val="18324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159752" y="6044184"/>
            <a:ext cx="26883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</a:rPr>
              <a:t>Trazabilidad: logs, validación y estados del flujo</a:t>
            </a:r>
            <a:endParaRPr lang="en-US" sz="940" dirty="0"/>
          </a:p>
        </p:txBody>
      </p:sp>
      <p:sp>
        <p:nvSpPr>
          <p:cNvPr id="69" name="Shape 67"/>
          <p:cNvSpPr/>
          <p:nvPr/>
        </p:nvSpPr>
        <p:spPr>
          <a:xfrm>
            <a:off x="10195560" y="5989320"/>
            <a:ext cx="1097280" cy="393192"/>
          </a:xfrm>
          <a:prstGeom prst="roundRect">
            <a:avLst>
              <a:gd name="adj" fmla="val 18605"/>
            </a:avLst>
          </a:prstGeom>
          <a:solidFill>
            <a:srgbClr val="18AFC1"/>
          </a:solidFill>
          <a:ln w="12700">
            <a:solidFill>
              <a:srgbClr val="18AFC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6044184"/>
            <a:ext cx="9509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</a:rPr>
              <a:t>MVP → SaaS</a:t>
            </a:r>
            <a:endParaRPr lang="en-US" sz="9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Ambientes y ruta de escalamiento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5943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Separación operativa para DEV / QA / PROD y evolución desde piloto hasta SaaS productivo.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1463040" y="2761488"/>
            <a:ext cx="1005840" cy="0"/>
          </a:xfrm>
          <a:prstGeom prst="line">
            <a:avLst/>
          </a:prstGeom>
          <a:noFill/>
          <a:ln w="17780">
            <a:solidFill>
              <a:srgbClr val="18AFC1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023360" y="2761488"/>
            <a:ext cx="1005840" cy="0"/>
          </a:xfrm>
          <a:prstGeom prst="line">
            <a:avLst/>
          </a:prstGeom>
          <a:noFill/>
          <a:ln w="17780">
            <a:solidFill>
              <a:srgbClr val="18AFC1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583680" y="2761488"/>
            <a:ext cx="1005840" cy="0"/>
          </a:xfrm>
          <a:prstGeom prst="line">
            <a:avLst/>
          </a:prstGeom>
          <a:noFill/>
          <a:ln w="17780">
            <a:solidFill>
              <a:srgbClr val="18AFC1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144000" y="2761488"/>
            <a:ext cx="1005840" cy="0"/>
          </a:xfrm>
          <a:prstGeom prst="line">
            <a:avLst/>
          </a:prstGeom>
          <a:noFill/>
          <a:ln w="17780">
            <a:solidFill>
              <a:srgbClr val="18AFC1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02920" y="1115568"/>
            <a:ext cx="3337560" cy="1353312"/>
          </a:xfrm>
          <a:prstGeom prst="roundRect">
            <a:avLst>
              <a:gd name="adj" fmla="val 5405"/>
            </a:avLst>
          </a:prstGeom>
          <a:solidFill>
            <a:srgbClr val="E6F8FA"/>
          </a:solidFill>
          <a:ln w="12700">
            <a:solidFill>
              <a:srgbClr val="18AFC1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6072" y="1170432"/>
            <a:ext cx="319125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DEV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fluyepro-dev.vercel.app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branch: develop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VITE_APP_ENV=DEV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1115568"/>
            <a:ext cx="3337560" cy="1353312"/>
          </a:xfrm>
          <a:prstGeom prst="roundRect">
            <a:avLst>
              <a:gd name="adj" fmla="val 5405"/>
            </a:avLst>
          </a:prstGeom>
          <a:solidFill>
            <a:srgbClr val="EEF9F3"/>
          </a:solidFill>
          <a:ln w="12700">
            <a:solidFill>
              <a:srgbClr val="80CFA6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07992" y="1170432"/>
            <a:ext cx="319125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QA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fluyepro-qa.vercel.app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branch: qa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VITE_APP_ENV=QA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66760" y="1115568"/>
            <a:ext cx="3337560" cy="1353312"/>
          </a:xfrm>
          <a:prstGeom prst="roundRect">
            <a:avLst>
              <a:gd name="adj" fmla="val 5405"/>
            </a:avLst>
          </a:prstGeom>
          <a:solidFill>
            <a:srgbClr val="F1EEFF"/>
          </a:solidFill>
          <a:ln w="12700">
            <a:solidFill>
              <a:srgbClr val="B7A6F6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39912" y="1170432"/>
            <a:ext cx="319125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PROD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fluyepro-prod.vercel.app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branch: main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324A"/>
                </a:solidFill>
              </a:rPr>
              <a:t>VITE_APP_ENV=PROD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76148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2816352"/>
            <a:ext cx="16824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2 usuarios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Demo / validación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88920" y="276148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62072" y="2816352"/>
            <a:ext cx="16824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100 usuarios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8324A"/>
                </a:solidFill>
              </a:rPr>
              <a:t>Piloto controlado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74920" y="276148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48072" y="2816352"/>
            <a:ext cx="16824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1.000 usuarios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Pre‑producción SaaS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7360920" y="276148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34072" y="2816352"/>
            <a:ext cx="16824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10.000 usuarios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Escala gobernada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9646920" y="276148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20072" y="2816352"/>
            <a:ext cx="16824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Enterprise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18324A"/>
                </a:solidFill>
              </a:rPr>
              <a:t>Hardening avanzado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502920" y="3822192"/>
            <a:ext cx="25146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76072" y="3877056"/>
            <a:ext cx="2368296" cy="1152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Base actual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React + Vercel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Supabase Auth/DB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Google Drive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Login Gmail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3273552" y="3822192"/>
            <a:ext cx="25146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346704" y="3877056"/>
            <a:ext cx="2368296" cy="1152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Antes de piloto real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Supabase DEV/QA/PROD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RLS revisado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Backups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Logs mínimos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6044184" y="3822192"/>
            <a:ext cx="25146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17336" y="3877056"/>
            <a:ext cx="2368296" cy="1152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SaaS productivo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Índices SQL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Monitoring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Resend/Postmark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Auditoría formal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8814816" y="3822192"/>
            <a:ext cx="25146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  <a:effectLst>
            <a:outerShdw sx="100000" sy="100000" kx="0" ky="0" algn="bl" rotWithShape="0" blurRad="12700" dist="50800" dir="2700000">
              <a:srgbClr val="D5DEE7">
                <a:alpha val="24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887968" y="3877056"/>
            <a:ext cx="2368296" cy="1152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Escala 10k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Colas / workers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Rate limits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Storage gobernado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8324A"/>
                </a:solidFill>
              </a:rPr>
              <a:t>• Cost control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502920" y="5715000"/>
            <a:ext cx="11201400" cy="438912"/>
          </a:xfrm>
          <a:prstGeom prst="roundRect">
            <a:avLst>
              <a:gd name="adj" fmla="val 16667"/>
            </a:avLst>
          </a:prstGeom>
          <a:solidFill>
            <a:srgbClr val="18324A"/>
          </a:solidFill>
          <a:ln w="12700">
            <a:solidFill>
              <a:srgbClr val="1832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" y="5769864"/>
            <a:ext cx="11055096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</a:rPr>
              <a:t>Decisión arquitectónica: no migrar a cPanel. Vercel + Supabase es adecuado para MVP y crecimiento progresivo; se endurece por etapas antes de producción real.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FluyePro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Arquitectura FluyePro / Mental-IA</dc:title>
  <dc:subject>Diagrama editable arquitectura FluyePro / Mental-IA</dc:subject>
  <dc:creator>OpenAI</dc:creator>
  <cp:lastModifiedBy>OpenAI</cp:lastModifiedBy>
  <cp:revision>1</cp:revision>
  <dcterms:created xsi:type="dcterms:W3CDTF">2026-06-03T04:09:57Z</dcterms:created>
  <dcterms:modified xsi:type="dcterms:W3CDTF">2026-06-03T04:09:57Z</dcterms:modified>
</cp:coreProperties>
</file>